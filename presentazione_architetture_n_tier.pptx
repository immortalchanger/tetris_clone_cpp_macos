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Architetture a N-Tier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E75B6"/>
                </a:solidFill>
              </a:rPr>
              <a:t>Organizzazione, scalabilità e sicurezza nelle applicazioni moderne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Obiettivo: capire come strutturare un sistema in livelli separati.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Focus su 1-Tier, 2-Tier e 3-Tier.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Con vantaggi, limiti e buone pratiche.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7406640" y="3291840"/>
            <a:ext cx="3657600" cy="640080"/>
          </a:xfrm>
          <a:prstGeom prst="triangle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Presentation Tier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7863840" y="4023360"/>
            <a:ext cx="2743200" cy="640080"/>
          </a:xfrm>
          <a:prstGeom prst="triangle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Application Tier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8321040" y="4754880"/>
            <a:ext cx="1828800" cy="640080"/>
          </a:xfrm>
          <a:prstGeom prst="triangle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Tier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Cos'è un'architettura N-Tier?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Divide l'applicazione in N livelli con responsabilità distinte.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Riduce l'accoppiamento tra interfaccia, logica e dati.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Permette manutenzione, test e scalabilità più semplici.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Il caso più comune è il modello 3-Tier.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828800"/>
            <a:ext cx="3931920" cy="301752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>
                <a:solidFill>
                  <a:srgbClr val="172B4D"/>
                </a:solidFill>
              </a:defRPr>
            </a:pPr>
            <a:r>
              <a:t>N può indicare:</a:t>
            </a:r>
          </a:p>
          <a:p>
            <a:pPr>
              <a:defRPr sz="1700">
                <a:solidFill>
                  <a:srgbClr val="172B4D"/>
                </a:solidFill>
              </a:defRPr>
            </a:pPr>
            <a:r>
              <a:t>• Layer logici</a:t>
            </a:r>
          </a:p>
          <a:p>
            <a:pPr>
              <a:defRPr sz="1700">
                <a:solidFill>
                  <a:srgbClr val="172B4D"/>
                </a:solidFill>
              </a:defRPr>
            </a:pPr>
            <a:r>
              <a:t>• Tier fisici</a:t>
            </a:r>
          </a:p>
          <a:p>
            <a:pPr>
              <a:defRPr sz="1700">
                <a:solidFill>
                  <a:srgbClr val="172B4D"/>
                </a:solidFill>
              </a:defRPr>
            </a:pPr>
            <a:r>
              <a:t>• Combinazioni ibride on-prem/cloud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1-Tier (Monolitica)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UI, logica e dati nello stesso ambiente.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Veloce da avviare per progetti piccoli/locali.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Limiti: scalabilità ridotta e manutenzione complessa nel tempo.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2194560"/>
            <a:ext cx="3474720" cy="2194560"/>
          </a:xfrm>
          <a:prstGeom prst="rect">
            <a:avLst/>
          </a:prstGeom>
          <a:solidFill>
            <a:srgbClr val="F2F2F2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Applicazione</a:t>
            </a:r>
          </a:p>
          <a:p>
            <a:pPr algn="ctr">
              <a:defRPr sz="1600" b="1"/>
            </a:pPr>
            <a:r>
              <a:t>Monolitica</a:t>
            </a:r>
          </a:p>
          <a:p>
            <a:pPr algn="ctr">
              <a:defRPr sz="1600" b="1"/>
            </a:pPr>
            <a:r>
              <a:t>(UI + Logica + Dati)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2-Tier (Client-Server)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3093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Client: interfaccia e parte della logica.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Server: database e servizi condivisi.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Migliore del monolite, ma il client può diventare “fat”.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2194560"/>
            <a:ext cx="1828800" cy="1188720"/>
          </a:xfrm>
          <a:prstGeom prst="round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2194560"/>
            <a:ext cx="1828800" cy="118872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Server/DB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0" y="2788920"/>
            <a:ext cx="36576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3-Tier: Presentation, Application,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9144000" cy="1143000"/>
          </a:xfrm>
          <a:prstGeom prst="round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Presentation Tier — UI web/mobile/desktop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063240"/>
            <a:ext cx="9144000" cy="114300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Application Tier — Regole di business e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144000" cy="114300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Data Tier — Persistenza e query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Flusso di una richiesta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663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Esempio: login utente → validazione business → lettura/scrittura DB → risposta.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1828800" cy="914400"/>
          </a:xfrm>
          <a:prstGeom prst="round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Utente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51760" y="2834640"/>
            <a:ext cx="1828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34640" y="2377440"/>
            <a:ext cx="1828800" cy="914400"/>
          </a:xfrm>
          <a:prstGeom prst="round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Presentation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63440" y="283464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37760" y="2377440"/>
            <a:ext cx="1828800" cy="91440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Application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66560" y="283464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040880" y="2377440"/>
            <a:ext cx="1828800" cy="91440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69680" y="283464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2377440"/>
            <a:ext cx="1828800" cy="914400"/>
          </a:xfrm>
          <a:prstGeom prst="round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Risposta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Layer logici vs Tier fisici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5120640" cy="3474720"/>
          </a:xfrm>
          <a:prstGeom prst="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Layer (logici)</a:t>
            </a:r>
          </a:p>
          <a:p>
            <a:pPr>
              <a:defRPr sz="1600" b="0"/>
            </a:pPr>
            <a:r>
              <a:t>• Separazione nel codice</a:t>
            </a:r>
          </a:p>
          <a:p>
            <a:pPr>
              <a:defRPr sz="1600" b="0"/>
            </a:pPr>
            <a:r>
              <a:t>• Dipendenze controllate</a:t>
            </a:r>
          </a:p>
          <a:p>
            <a:pPr>
              <a:defRPr sz="1600" b="0"/>
            </a:pPr>
            <a:r>
              <a:t>• Migliora manutenibilità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828800"/>
            <a:ext cx="5120640" cy="3474720"/>
          </a:xfrm>
          <a:prstGeom prst="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Tier (fisici)</a:t>
            </a:r>
          </a:p>
          <a:p>
            <a:pPr>
              <a:defRPr sz="1600" b="0"/>
            </a:pPr>
            <a:r>
              <a:t>• Distribuzione su host/reti</a:t>
            </a:r>
          </a:p>
          <a:p>
            <a:pPr>
              <a:defRPr sz="1600" b="0"/>
            </a:pPr>
            <a:r>
              <a:t>• Isolamento e sicurezza</a:t>
            </a:r>
          </a:p>
          <a:p>
            <a:pPr>
              <a:defRPr sz="1600" b="0"/>
            </a:pPr>
            <a:r>
              <a:t>• Impatto su latenza/costi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Vantaggi delle architetture N-Tier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Manutenibilità: ogni tier evolve in modo indipendente.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Scalabilità: si scala solo il livello sotto carico.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Sicurezza: dati protetti dietro application tier.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Testabilità e riuso di servizi/API.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Flessibilità di deployment (on-prem, cloud, ibrido).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Limiti, rischi e best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Limiti: complessità architetturale, latenza di rete, debugging distribuito.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Zero trust tra tier: autenticazione/autorizzazione ad ogni hop.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Mai esporre il Data Tier direttamente a Internet.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Segmentazione rete, WAF, TLS end-to-end, least privilege.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Observability: logging centralizzato, metriche e tracing distribuito.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Conclusioni e fonti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0350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Il modello 3-Tier è un riferimento pratico per molte applicazioni.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Scegliere il numero di tier in base a requisiti reali.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Bilanciare scalabilità, sicurezza, costi e complessità.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493776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>
                <a:solidFill>
                  <a:srgbClr val="2D2D2D"/>
                </a:solidFill>
              </a:defRPr>
            </a:pPr>
            <a:r>
              <a:t>Fonti principali: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• Microsoft Learn: N-tier architecture style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  https://learn.microsoft.com/azure/architecture/guide/architecture-styles/n-tier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• Microsoft Learn: 3-tier architecture model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  https://learn.microsoft.com/windows/win32/cossdk/using-a-three-tier-architecture-model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• Azure Architecture Center: Multi-tier web app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  https://learn.microsoft.com/azure/architecture/example-scenario/infrastructure/multi-tier-app-disaster-recovery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• Martin Fowler: Presentation Domain Data Layering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  https://martinfowler.com/bliki/PresentationDomainDataLayering.html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